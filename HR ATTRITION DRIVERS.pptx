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8F755DF-738B-4E37-8118-4524C75F7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E4FB4A5-0FBF-49D7-969B-2A676F65A64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F755DF-738B-4E37-8118-4524C75F7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4FB4A5-0FBF-49D7-969B-2A676F65A64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F755DF-738B-4E37-8118-4524C75F7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4FB4A5-0FBF-49D7-969B-2A676F65A64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F755DF-738B-4E37-8118-4524C75F7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4FB4A5-0FBF-49D7-969B-2A676F65A64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F755DF-738B-4E37-8118-4524C75F7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4FB4A5-0FBF-49D7-969B-2A676F65A646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F755DF-738B-4E37-8118-4524C75F7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4FB4A5-0FBF-49D7-969B-2A676F65A646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F755DF-738B-4E37-8118-4524C75F7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4FB4A5-0FBF-49D7-969B-2A676F65A64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08F755DF-738B-4E37-8118-4524C75F7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4FB4A5-0FBF-49D7-969B-2A676F65A646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8F755DF-738B-4E37-8118-4524C75F7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E4FB4A5-0FBF-49D7-969B-2A676F65A646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F755DF-738B-4E37-8118-4524C75F7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4FB4A5-0FBF-49D7-969B-2A676F65A64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8F755DF-738B-4E37-8118-4524C75F7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E4FB4A5-0FBF-49D7-969B-2A676F65A64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08F755DF-738B-4E37-8118-4524C75F7297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E4FB4A5-0FBF-49D7-969B-2A676F65A64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1916832"/>
            <a:ext cx="6984775" cy="775712"/>
          </a:xfrm>
        </p:spPr>
        <p:txBody>
          <a:bodyPr/>
          <a:lstStyle/>
          <a:p>
            <a:r>
              <a:rPr lang="en-US" sz="4000" b="1" dirty="0" smtClean="0">
                <a:latin typeface="Arial Black" panose="020B0A04020102020204" pitchFamily="34" charset="0"/>
                <a:cs typeface="Calibri Light" panose="020F0302020204030204" pitchFamily="34" charset="0"/>
              </a:rPr>
              <a:t>HR ATTRITION DRIVERS</a:t>
            </a:r>
            <a:endParaRPr lang="en-IN" sz="4000" b="1" dirty="0">
              <a:latin typeface="Arial Black" panose="020B0A04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600" y="2924944"/>
            <a:ext cx="6511131" cy="648072"/>
          </a:xfrm>
        </p:spPr>
        <p:txBody>
          <a:bodyPr>
            <a:noAutofit/>
          </a:bodyPr>
          <a:lstStyle/>
          <a:p>
            <a:pPr algn="ctr"/>
            <a:r>
              <a:rPr lang="en-US" sz="2000" dirty="0" smtClean="0">
                <a:latin typeface="Arial Black" panose="020B0A04020102020204" pitchFamily="34" charset="0"/>
              </a:rPr>
              <a:t>ANALYSIS OF KEY TURNOVER FACTORS FOR THE COMPLANY ANALYSIS</a:t>
            </a:r>
            <a:endParaRPr lang="en-IN" sz="2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762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0405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Arial Black" panose="020B0A04020102020204" pitchFamily="34" charset="0"/>
              </a:rPr>
              <a:t>Title:</a:t>
            </a:r>
            <a:r>
              <a:rPr lang="en-US" sz="2400" b="1" dirty="0" smtClean="0"/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Our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Attrition Status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Arial Black" panose="020B0A04020102020204" pitchFamily="34" charset="0"/>
              </a:rPr>
              <a:t>Objective:</a:t>
            </a:r>
          </a:p>
          <a:p>
            <a:pPr marL="109728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identify the primary, hidden drivers of employee turnover and propose strategic, data-driven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interventions.</a:t>
            </a:r>
            <a:endParaRPr lang="en-IN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 smtClean="0">
                <a:latin typeface="Arial Black" panose="020B0A04020102020204" pitchFamily="34" charset="0"/>
              </a:rPr>
              <a:t>Key Metric: </a:t>
            </a:r>
          </a:p>
          <a:p>
            <a:pPr marL="624078" indent="-51435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Overall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Attrition Rate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16.12%</a:t>
            </a:r>
          </a:p>
          <a:p>
            <a:pPr marL="624078" indent="-51435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Total Employee Count: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1,470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 Black" panose="020B0A04020102020204" pitchFamily="34" charset="0"/>
              </a:rPr>
              <a:t>Key </a:t>
            </a:r>
            <a:r>
              <a:rPr lang="en-US" sz="2400" b="1" dirty="0" smtClean="0">
                <a:latin typeface="Arial Black" panose="020B0A04020102020204" pitchFamily="34" charset="0"/>
              </a:rPr>
              <a:t>Text</a:t>
            </a:r>
            <a:r>
              <a:rPr lang="en-US" sz="2400" dirty="0" smtClean="0">
                <a:latin typeface="Arial Black" panose="020B0A04020102020204" pitchFamily="34" charset="0"/>
              </a:rPr>
              <a:t>: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Our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goal is not just to report the rate, but to understand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who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is leaving,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they are leaving, and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they are most likely to leave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.”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CONTEXT AND THE PROBLEM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4796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199" y="1052736"/>
            <a:ext cx="8588513" cy="5688632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Arial Black" panose="020B0A04020102020204" pitchFamily="34" charset="0"/>
              </a:rPr>
              <a:t>FINDING 1:</a:t>
            </a:r>
          </a:p>
          <a:p>
            <a:pPr marL="109728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Attrition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Spikes in Specific Age </a:t>
            </a:r>
            <a:endParaRPr lang="en-US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9728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&amp;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Gender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Cohorts.</a:t>
            </a:r>
          </a:p>
          <a:p>
            <a:r>
              <a:rPr lang="en-IN" sz="2400" dirty="0">
                <a:latin typeface="Arial Black" panose="020B0A04020102020204" pitchFamily="34" charset="0"/>
              </a:rPr>
              <a:t>Chart </a:t>
            </a:r>
            <a:r>
              <a:rPr lang="en-IN" sz="2400" dirty="0" smtClean="0">
                <a:latin typeface="Arial Black" panose="020B0A04020102020204" pitchFamily="34" charset="0"/>
              </a:rPr>
              <a:t>Used:</a:t>
            </a:r>
          </a:p>
          <a:p>
            <a:pPr marL="109728" indent="0"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Attrition Rate by Age Group and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Gender.</a:t>
            </a:r>
          </a:p>
          <a:p>
            <a:r>
              <a:rPr lang="en-US" sz="2400" dirty="0">
                <a:latin typeface="Arial Black" panose="020B0A04020102020204" pitchFamily="34" charset="0"/>
              </a:rPr>
              <a:t>Key </a:t>
            </a:r>
            <a:r>
              <a:rPr lang="en-US" sz="2400" dirty="0">
                <a:latin typeface="Arial Black" panose="020B0A04020102020204" pitchFamily="34" charset="0"/>
              </a:rPr>
              <a:t>Takeaway:</a:t>
            </a:r>
          </a:p>
          <a:p>
            <a:pPr marL="109728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Age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Group with the highest combined rate (e.g., 26-35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109728" indent="0">
              <a:buNone/>
            </a:pPr>
            <a:r>
              <a:rPr lang="en-US" sz="2400" dirty="0">
                <a:latin typeface="Arial Black" panose="020B0A04020102020204" pitchFamily="34" charset="0"/>
              </a:rPr>
              <a:t>Data </a:t>
            </a:r>
            <a:r>
              <a:rPr lang="en-US" sz="2400" dirty="0">
                <a:latin typeface="Arial Black" panose="020B0A04020102020204" pitchFamily="34" charset="0"/>
              </a:rPr>
              <a:t>Point 1: </a:t>
            </a:r>
            <a:endParaRPr lang="en-US" sz="2400" dirty="0" smtClean="0">
              <a:latin typeface="Arial Black" panose="020B0A04020102020204" pitchFamily="34" charset="0"/>
            </a:endParaRPr>
          </a:p>
          <a:p>
            <a:pPr marL="109728" indent="0"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[Age Group, e.g., 26-35] cohort is our highest flight risk, representing [X]% of all turnover. 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9728" indent="0">
              <a:buNone/>
            </a:pPr>
            <a:r>
              <a:rPr lang="en-US" sz="2400" dirty="0">
                <a:latin typeface="Arial Black" panose="020B0A04020102020204" pitchFamily="34" charset="0"/>
              </a:rPr>
              <a:t>Data </a:t>
            </a:r>
            <a:r>
              <a:rPr lang="en-US" sz="2400" dirty="0">
                <a:latin typeface="Arial Black" panose="020B0A04020102020204" pitchFamily="34" charset="0"/>
              </a:rPr>
              <a:t>Point 2: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Within this group, [Gender, e.g., Male] employees are leaving at a rate of [X]% compared to [Y]% for [Gender, e.g., Female] employees.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FINDINGS</a:t>
            </a:r>
            <a:endParaRPr lang="en-IN" sz="4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82" t="34014" r="30943" b="34691"/>
          <a:stretch/>
        </p:blipFill>
        <p:spPr bwMode="auto">
          <a:xfrm>
            <a:off x="5796136" y="476672"/>
            <a:ext cx="3156587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9326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idx="1"/>
          </p:nvPr>
        </p:nvSpPr>
        <p:spPr>
          <a:xfrm>
            <a:off x="457200" y="333375"/>
            <a:ext cx="8435280" cy="6350405"/>
          </a:xfrm>
        </p:spPr>
        <p:txBody>
          <a:bodyPr/>
          <a:lstStyle/>
          <a:p>
            <a:r>
              <a:rPr lang="en-US" sz="2400" b="1" dirty="0" smtClean="0">
                <a:latin typeface="Arial Black" panose="020B0A04020102020204" pitchFamily="34" charset="0"/>
              </a:rPr>
              <a:t>Finding 2: </a:t>
            </a:r>
          </a:p>
          <a:p>
            <a:pPr marL="109728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High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Mobility in Specialized Education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Fields.</a:t>
            </a:r>
          </a:p>
          <a:p>
            <a:r>
              <a:rPr lang="en-US" sz="2400" b="1" dirty="0">
                <a:latin typeface="Arial Black" panose="020B0A04020102020204" pitchFamily="34" charset="0"/>
              </a:rPr>
              <a:t>Key </a:t>
            </a:r>
            <a:r>
              <a:rPr lang="en-US" sz="2400" b="1" dirty="0">
                <a:latin typeface="Arial Black" panose="020B0A04020102020204" pitchFamily="34" charset="0"/>
              </a:rPr>
              <a:t>Takeaway</a:t>
            </a:r>
          </a:p>
          <a:p>
            <a:pPr marL="109728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Life Science and Medical are the top 2 </a:t>
            </a:r>
          </a:p>
          <a:p>
            <a:pPr marL="109728" indent="0">
              <a:buNone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educational fields with Highest attrition.</a:t>
            </a:r>
          </a:p>
          <a:p>
            <a:pPr marL="109728" indent="0">
              <a:buNone/>
            </a:pPr>
            <a:r>
              <a:rPr lang="en-US" sz="2400" b="1" dirty="0">
                <a:latin typeface="Arial Black" panose="020B0A04020102020204" pitchFamily="34" charset="0"/>
              </a:rPr>
              <a:t>Data Point 1: </a:t>
            </a:r>
            <a:endParaRPr lang="en-US" sz="2400" b="1" dirty="0" smtClean="0">
              <a:latin typeface="Arial Black" panose="020B0A04020102020204" pitchFamily="34" charset="0"/>
            </a:endParaRPr>
          </a:p>
          <a:p>
            <a:pPr marL="109728" indent="0"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Attrition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is notably high in [Education Field 1, e.g., Life Sciences] at [X]% and [Education Field 2, e.g., Medical] at [Y]%. 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9728" indent="0">
              <a:buNone/>
            </a:pPr>
            <a:r>
              <a:rPr lang="en-US" sz="2400" b="1" dirty="0" smtClean="0">
                <a:latin typeface="Arial Black" panose="020B0A04020102020204" pitchFamily="34" charset="0"/>
              </a:rPr>
              <a:t>Data Point 2: </a:t>
            </a:r>
          </a:p>
          <a:p>
            <a:pPr marL="109728" indent="0"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contrast, fields like [Lowest Attrition Field, e.g., Technical Degree] show significantly lower turnover</a:t>
            </a:r>
            <a:r>
              <a:rPr lang="en-US" sz="2400" dirty="0"/>
              <a:t>.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88" t="66071" r="57499" b="11905"/>
          <a:stretch/>
        </p:blipFill>
        <p:spPr bwMode="auto">
          <a:xfrm>
            <a:off x="5940152" y="4509120"/>
            <a:ext cx="2952328" cy="2174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2141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idx="1"/>
          </p:nvPr>
        </p:nvSpPr>
        <p:spPr>
          <a:xfrm>
            <a:off x="457200" y="333375"/>
            <a:ext cx="8229600" cy="5673725"/>
          </a:xfrm>
        </p:spPr>
        <p:txBody>
          <a:bodyPr/>
          <a:lstStyle/>
          <a:p>
            <a:r>
              <a:rPr lang="en-US" sz="2400" b="1" dirty="0">
                <a:latin typeface="Arial Black" panose="020B0A04020102020204" pitchFamily="34" charset="0"/>
              </a:rPr>
              <a:t>Finding 3</a:t>
            </a:r>
            <a:r>
              <a:rPr lang="en-US" sz="2400" b="1" dirty="0" smtClean="0">
                <a:latin typeface="Arial Black" panose="020B0A04020102020204" pitchFamily="34" charset="0"/>
              </a:rPr>
              <a:t>:</a:t>
            </a:r>
          </a:p>
          <a:p>
            <a:pPr marL="109728" indent="0">
              <a:buNone/>
            </a:pPr>
            <a:r>
              <a:rPr lang="en-US" b="1" dirty="0" smtClean="0">
                <a:latin typeface="Arial Black" panose="020B0A04020102020204" pitchFamily="34" charset="0"/>
              </a:rPr>
              <a:t>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High Turnover in New Hires &amp; Low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Earners.</a:t>
            </a:r>
          </a:p>
          <a:p>
            <a:r>
              <a:rPr lang="en-US" sz="2400" b="1" dirty="0">
                <a:latin typeface="Arial Black" panose="020B0A04020102020204" pitchFamily="34" charset="0"/>
              </a:rPr>
              <a:t>Key </a:t>
            </a:r>
            <a:r>
              <a:rPr lang="en-US" sz="2400" b="1" dirty="0">
                <a:latin typeface="Arial Black" panose="020B0A04020102020204" pitchFamily="34" charset="0"/>
              </a:rPr>
              <a:t>Takeaway:</a:t>
            </a:r>
          </a:p>
          <a:p>
            <a:pPr marL="109728" indent="0"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Focus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on short tenure and low income as separate, but related, major causes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9728" indent="0">
              <a:buNone/>
            </a:pPr>
            <a:r>
              <a:rPr lang="en-US" sz="2400" b="1" dirty="0">
                <a:latin typeface="Arial Black" panose="020B0A04020102020204" pitchFamily="34" charset="0"/>
              </a:rPr>
              <a:t>Tenure Risk: </a:t>
            </a:r>
            <a:endParaRPr lang="en-US" sz="2400" b="1" dirty="0" smtClean="0">
              <a:latin typeface="Arial Black" panose="020B0A04020102020204" pitchFamily="34" charset="0"/>
            </a:endParaRPr>
          </a:p>
          <a:p>
            <a:pPr marL="109728" indent="0"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Employees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with less than 2 years of service have a turnover rate that is [e.g., 2.5X] the company average. 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9728" indent="0">
              <a:buNone/>
            </a:pPr>
            <a:r>
              <a:rPr lang="en-US" sz="2400" b="1" dirty="0">
                <a:latin typeface="Arial Black" panose="020B0A04020102020204" pitchFamily="34" charset="0"/>
              </a:rPr>
              <a:t>Income </a:t>
            </a:r>
            <a:r>
              <a:rPr lang="en-US" sz="2400" b="1" dirty="0">
                <a:latin typeface="Arial Black" panose="020B0A04020102020204" pitchFamily="34" charset="0"/>
              </a:rPr>
              <a:t>Risk: </a:t>
            </a:r>
            <a:endParaRPr lang="en-US" sz="2400" b="1" dirty="0" smtClean="0">
              <a:latin typeface="Arial Black" panose="020B0A04020102020204" pitchFamily="34" charset="0"/>
            </a:endParaRPr>
          </a:p>
          <a:p>
            <a:pPr marL="109728" indent="0"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Attrition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peaks in the lowest income quartile (e.g., Monthly Income $&lt;\$4,000$).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621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500" b="1" dirty="0">
                <a:latin typeface="Arial Black" panose="020B0A04020102020204" pitchFamily="34" charset="0"/>
              </a:rPr>
              <a:t>Three Structural Drivers of </a:t>
            </a:r>
            <a:r>
              <a:rPr lang="en-US" sz="2500" b="1" dirty="0" smtClean="0">
                <a:latin typeface="Arial Black" panose="020B0A04020102020204" pitchFamily="34" charset="0"/>
              </a:rPr>
              <a:t>Attrition:</a:t>
            </a:r>
          </a:p>
          <a:p>
            <a:pPr marL="109728" indent="0">
              <a:buNone/>
            </a:pPr>
            <a:r>
              <a:rPr lang="en-US" sz="2500" b="1" dirty="0">
                <a:latin typeface="Arial Black" panose="020B0A04020102020204" pitchFamily="34" charset="0"/>
              </a:rPr>
              <a:t>Driver 1 (Cohort)Mid-Career Male Employees (Age </a:t>
            </a:r>
            <a:r>
              <a:rPr lang="en-US" sz="2500" b="1" dirty="0" smtClean="0">
                <a:latin typeface="Arial Black" panose="020B0A04020102020204" pitchFamily="34" charset="0"/>
              </a:rPr>
              <a:t>26-35):</a:t>
            </a:r>
          </a:p>
          <a:p>
            <a:pPr marL="109728" indent="0">
              <a:buNone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Likely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seeking higher-paying roles for career acceleration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9728" indent="0">
              <a:buNone/>
            </a:pPr>
            <a:r>
              <a:rPr lang="en-US" sz="2500" dirty="0">
                <a:latin typeface="Arial Black" panose="020B0A04020102020204" pitchFamily="34" charset="0"/>
              </a:rPr>
              <a:t>Driver 2 (Engagement)Low-Tenure Employees </a:t>
            </a:r>
            <a:r>
              <a:rPr lang="en-US" sz="2500" dirty="0" smtClean="0">
                <a:latin typeface="Arial Black" panose="020B0A04020102020204" pitchFamily="34" charset="0"/>
              </a:rPr>
              <a:t>(&lt;2 Years</a:t>
            </a:r>
            <a:r>
              <a:rPr lang="en-US" sz="2500" dirty="0">
                <a:latin typeface="Arial Black" panose="020B0A04020102020204" pitchFamily="34" charset="0"/>
              </a:rPr>
              <a:t>):</a:t>
            </a:r>
            <a:r>
              <a:rPr lang="en-US" sz="2500" dirty="0">
                <a:latin typeface="Arial Black" panose="020B0A04020102020204" pitchFamily="34" charset="0"/>
              </a:rPr>
              <a:t> </a:t>
            </a:r>
            <a:endParaRPr lang="en-US" sz="2500" dirty="0" smtClean="0"/>
          </a:p>
          <a:p>
            <a:pPr marL="109728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Indicative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 poor initial fit, inadequate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onboarding,                   or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early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dis-satisfaction.</a:t>
            </a:r>
          </a:p>
          <a:p>
            <a:pPr marL="109728" indent="0">
              <a:buNone/>
            </a:pPr>
            <a:r>
              <a:rPr lang="en-US" sz="2500" dirty="0">
                <a:latin typeface="Arial Black" panose="020B0A04020102020204" pitchFamily="34" charset="0"/>
              </a:rPr>
              <a:t>Driver </a:t>
            </a:r>
            <a:r>
              <a:rPr lang="en-US" sz="2500" dirty="0">
                <a:latin typeface="Arial Black" panose="020B0A04020102020204" pitchFamily="34" charset="0"/>
              </a:rPr>
              <a:t>3 (Market Demand)Specialized Fields (Life Sciences/Medical): </a:t>
            </a:r>
            <a:endParaRPr lang="en-US" sz="2500" dirty="0" smtClean="0">
              <a:latin typeface="Arial Black" panose="020B0A04020102020204" pitchFamily="34" charset="0"/>
            </a:endParaRPr>
          </a:p>
          <a:p>
            <a:pPr marL="109728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Suggests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are losing employees to external competitors who offer better packages.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SYNTHESIS: ROOT CAUSES OF ATTRITION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3771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5536" y="0"/>
            <a:ext cx="8301608" cy="119675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HR ATTRITION DRIVERS DASHBOARD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8" t="5568" r="4599" b="3972"/>
          <a:stretch/>
        </p:blipFill>
        <p:spPr bwMode="auto">
          <a:xfrm>
            <a:off x="107504" y="1089720"/>
            <a:ext cx="8928992" cy="5528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0124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>
                <a:latin typeface="Arial Black" panose="020B0A04020102020204" pitchFamily="34" charset="0"/>
              </a:rPr>
              <a:t>Targeted </a:t>
            </a:r>
            <a:r>
              <a:rPr lang="en-US" b="1" dirty="0">
                <a:latin typeface="Arial Black" panose="020B0A04020102020204" pitchFamily="34" charset="0"/>
              </a:rPr>
              <a:t>Compensation Review: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endParaRPr lang="en-US" dirty="0" smtClean="0">
              <a:latin typeface="Arial Black" panose="020B0A04020102020204" pitchFamily="34" charset="0"/>
            </a:endParaRPr>
          </a:p>
          <a:p>
            <a:pPr marL="109728" indent="0">
              <a:buNone/>
            </a:pP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Conduct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an immediate salary band review for the </a:t>
            </a: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[Age Group/Gender]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cohort to close competitive gaps and retain experienced </a:t>
            </a: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talent.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Arial Black" panose="020B0A04020102020204" pitchFamily="34" charset="0"/>
              </a:rPr>
              <a:t>Enhanced Onboarding &amp; Mentorship: </a:t>
            </a:r>
            <a:endParaRPr lang="en-US" b="1" dirty="0">
              <a:latin typeface="Arial Black" panose="020B0A04020102020204" pitchFamily="34" charset="0"/>
            </a:endParaRPr>
          </a:p>
          <a:p>
            <a:pPr marL="109728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Implement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formal, mandatory mentorship program for all new hires (Year 1) to drastically reduce the turnover spike in the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&lt;2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year tenure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group.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Arial Black" panose="020B0A04020102020204" pitchFamily="34" charset="0"/>
              </a:rPr>
              <a:t>Exit </a:t>
            </a:r>
            <a:r>
              <a:rPr lang="en-US" b="1" dirty="0">
                <a:latin typeface="Arial Black" panose="020B0A04020102020204" pitchFamily="34" charset="0"/>
              </a:rPr>
              <a:t>Interview Deep Dive: </a:t>
            </a:r>
            <a:endParaRPr lang="en-US" b="1" dirty="0">
              <a:latin typeface="Arial Black" panose="020B0A04020102020204" pitchFamily="34" charset="0"/>
            </a:endParaRPr>
          </a:p>
          <a:p>
            <a:pPr marL="109728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Launch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study using exit interview data focused on employees in the high-attrition education fields to identify non-salary motivators (e.g., work-life balance, project scope) for leaving.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ACTIONABLE RECOMMENDATIONS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031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GITHUB LINK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61451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75</TotalTime>
  <Words>539</Words>
  <Application>Microsoft Office PowerPoint</Application>
  <PresentationFormat>On-screen Show (4:3)</PresentationFormat>
  <Paragraphs>55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Concourse</vt:lpstr>
      <vt:lpstr>HR ATTRITION DRIVERS</vt:lpstr>
      <vt:lpstr>CONTEXT AND THE PROBLEM</vt:lpstr>
      <vt:lpstr>FINDINGS</vt:lpstr>
      <vt:lpstr>PowerPoint Presentation</vt:lpstr>
      <vt:lpstr>PowerPoint Presentation</vt:lpstr>
      <vt:lpstr>SYNTHESIS: ROOT CAUSES OF ATTRITION</vt:lpstr>
      <vt:lpstr>HR ATTRITION DRIVERS DASHBOARD</vt:lpstr>
      <vt:lpstr>ACTIONABLE RECOMMENDATIONS</vt:lpstr>
      <vt:lpstr>GITHUB LINK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ATTRITION DRIVERS</dc:title>
  <dc:creator>User</dc:creator>
  <cp:lastModifiedBy>User</cp:lastModifiedBy>
  <cp:revision>7</cp:revision>
  <dcterms:created xsi:type="dcterms:W3CDTF">2025-11-04T08:12:12Z</dcterms:created>
  <dcterms:modified xsi:type="dcterms:W3CDTF">2025-11-04T09:27:45Z</dcterms:modified>
</cp:coreProperties>
</file>